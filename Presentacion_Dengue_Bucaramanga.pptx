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53118A7-218A-BBFF-422D-5D81286D0F09}" v="65" dt="2026-07-26T17:17:07.891"/>
    <p1510:client id="{F798AACB-DBE3-FDAC-A7E9-F0DFA8F4C8C4}" v="11" dt="2026-07-27T04:06:53.52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Regresión lineal</c:v>
                </c:pt>
              </c:strCache>
            </c:strRef>
          </c:tx>
          <c:spPr>
            <a:solidFill>
              <a:srgbClr val="6B728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F2937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Total</c:v>
                </c:pt>
                <c:pt idx="1">
                  <c:v>Estrato 3</c:v>
                </c:pt>
                <c:pt idx="2">
                  <c:v>Estrato 5</c:v>
                </c:pt>
                <c:pt idx="3">
                  <c:v>Gestantes</c:v>
                </c:pt>
                <c:pt idx="4">
                  <c:v>Otros vulnerables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0.751</c:v>
                </c:pt>
                <c:pt idx="1">
                  <c:v>0.78900000000000003</c:v>
                </c:pt>
                <c:pt idx="2">
                  <c:v>-1.9370000000000001</c:v>
                </c:pt>
                <c:pt idx="3">
                  <c:v>5.8999999999999997E-2</c:v>
                </c:pt>
                <c:pt idx="4">
                  <c:v>0.14099999999999999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81E-457F-89EE-90240EFD964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Red neuronal</c:v>
                </c:pt>
              </c:strCache>
            </c:strRef>
          </c:tx>
          <c:spPr>
            <a:solidFill>
              <a:srgbClr val="0B4F6C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F2937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Total</c:v>
                </c:pt>
                <c:pt idx="1">
                  <c:v>Estrato 3</c:v>
                </c:pt>
                <c:pt idx="2">
                  <c:v>Estrato 5</c:v>
                </c:pt>
                <c:pt idx="3">
                  <c:v>Gestantes</c:v>
                </c:pt>
                <c:pt idx="4">
                  <c:v>Otros vulnerables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0.83899999999999997</c:v>
                </c:pt>
                <c:pt idx="1">
                  <c:v>0.86</c:v>
                </c:pt>
                <c:pt idx="2">
                  <c:v>-0.73199999999999998</c:v>
                </c:pt>
                <c:pt idx="3">
                  <c:v>-2.3E-2</c:v>
                </c:pt>
                <c:pt idx="4">
                  <c:v>-8.9999999999999993E-3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81E-457F-89EE-90240EFD964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293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6B7280"/>
                    </a:solidFill>
                    <a:latin typeface="Arial"/>
                  </a:defRPr>
                </a:pPr>
                <a:r>
                  <a:rPr lang="en-US" sz="1100" b="0" i="0" u="none" strike="noStrike">
                    <a:solidFill>
                      <a:srgbClr val="6B7280"/>
                    </a:solidFill>
                    <a:latin typeface="Arial"/>
                  </a:rPr>
                  <a:t>R² (precisión)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F2937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116BF3-D74C-4D72-992D-0714D9A6B566}" type="datetimeFigureOut">
              <a:t>7/26/2026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8D3582-ACF6-45BC-AEB6-46B2A9F34BD7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58047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JojanDev/RedesNeuronales_Dengue.git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youtu.be/69JFvx16iwM" TargetMode="External"/><Relationship Id="rId5" Type="http://schemas.openxmlformats.org/officeDocument/2006/relationships/image" Target="../media/image16.png"/><Relationship Id="rId4" Type="http://schemas.openxmlformats.org/officeDocument/2006/relationships/hyperlink" Target="https://colab.research.google.com/drive/1VROBiBZWkm44XIOpk5cOJXSMLlaN_rLt?usp=sharing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486400" cy="5486400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4206240"/>
            <a:ext cx="3291840" cy="3291840"/>
          </a:xfrm>
          <a:prstGeom prst="ellipse">
            <a:avLst/>
          </a:prstGeom>
          <a:solidFill>
            <a:srgbClr val="E94F37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148840"/>
            <a:ext cx="9692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PREDICCIÓN DE CASOS DE DENGUE EN BUCARAMANGA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22960" y="33375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3FA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neuronal multi-salida con evaluación de equidad algorítmica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5074920"/>
            <a:ext cx="7772400" cy="10973"/>
          </a:xfrm>
          <a:prstGeom prst="rect">
            <a:avLst/>
          </a:prstGeom>
          <a:solidFill>
            <a:srgbClr val="1D5B70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52578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Yariangel Gabriela Aray Munar   ·   Johan Sebastian Delgado Mantilla   ·   Breyner Alexis Acosta Sandoval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5623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C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Tecnológica del Oriente  ·  Inteligencia Artificial Avanzada  ·  Docente: Carlos Carrascal Avendaño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5989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C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de julio de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E94F37"/>
          </a:solidFill>
          <a:ln/>
        </p:spPr>
      </p:sp>
      <p:pic>
        <p:nvPicPr>
          <p:cNvPr id="3" name="Image 0" descr="/home/claude/pptx_build/icons/problem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002" y="519562"/>
            <a:ext cx="442204" cy="44220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02336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problema: dengue en Bucaramanga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280160" y="1554480"/>
            <a:ext cx="64922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Enfermedad viral transmitida por el mosquito Aedes aegypti, muy presente en Bucaramanga.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 fue el año con más casos reportados en la ciudad y en el país.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central: ¿puede un algoritmo anticipar las semanas de mayor riesgo?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predecir los casos semanales y revisar si el modelo funciona igual de bien para todos los grupos de la población.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8138160" y="1737360"/>
            <a:ext cx="3474720" cy="3017520"/>
          </a:xfrm>
          <a:prstGeom prst="roundRect">
            <a:avLst>
              <a:gd name="adj" fmla="val 3636"/>
            </a:avLst>
          </a:prstGeom>
          <a:solidFill>
            <a:srgbClr val="F4F8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138160" y="214884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E94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2024</a:t>
            </a:r>
            <a:endParaRPr lang="en-US" sz="5400" dirty="0"/>
          </a:p>
        </p:txBody>
      </p:sp>
      <p:sp>
        <p:nvSpPr>
          <p:cNvPr id="8" name="Text 5"/>
          <p:cNvSpPr/>
          <p:nvPr/>
        </p:nvSpPr>
        <p:spPr>
          <a:xfrm>
            <a:off x="8412480" y="324612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año del brote más fuerte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registrado en Bucaramanga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pic>
        <p:nvPicPr>
          <p:cNvPr id="910" name="Decoracion mosquit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0909" y="4347754"/>
            <a:ext cx="1554480" cy="15544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0B4F6C"/>
          </a:solidFill>
          <a:ln/>
        </p:spPr>
      </p:sp>
      <p:pic>
        <p:nvPicPr>
          <p:cNvPr id="3" name="Image 0" descr="/home/claude/pptx_build/icons/dat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544" y="548590"/>
            <a:ext cx="391404" cy="39140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02336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 datos: un registro oficial del Estado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280160" y="1691640"/>
            <a:ext cx="64922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reales de dengue en Bucaramanga, publicados por el gobierno en datos.gov.co (sistema SIVIGILA) — no un dataset de Kaggle.</a:t>
            </a:r>
            <a:endParaRPr lang="en-US" sz="16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caso incluye el estrato socioeconómico, el sexo, y si la persona pertenece a un grupo vulnerable (gestantes, población desplazada, indígena, entre otros).</a:t>
            </a:r>
            <a:endParaRPr lang="en-US" sz="16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Agrupamos todos los casos por semana, entre 2020 y 2025.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8138160" y="1691640"/>
            <a:ext cx="3474720" cy="1051560"/>
          </a:xfrm>
          <a:prstGeom prst="roundRect">
            <a:avLst>
              <a:gd name="adj" fmla="val 8696"/>
            </a:avLst>
          </a:prstGeom>
          <a:solidFill>
            <a:srgbClr val="F4F8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321040" y="1764792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B4F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18.969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8321040" y="1764792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 individuales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8138160" y="2926080"/>
            <a:ext cx="3474720" cy="1051560"/>
          </a:xfrm>
          <a:prstGeom prst="roundRect">
            <a:avLst>
              <a:gd name="adj" fmla="val 8696"/>
            </a:avLst>
          </a:prstGeom>
          <a:solidFill>
            <a:srgbClr val="F4F8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321040" y="2999232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B4F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297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8321040" y="2999232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semanas analizadas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8138160" y="4160520"/>
            <a:ext cx="3474720" cy="1051560"/>
          </a:xfrm>
          <a:prstGeom prst="roundRect">
            <a:avLst>
              <a:gd name="adj" fmla="val 8696"/>
            </a:avLst>
          </a:prstGeom>
          <a:solidFill>
            <a:srgbClr val="F4F8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321040" y="4233672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B4F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2020–2025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8321040" y="4233672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período usado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pic>
        <p:nvPicPr>
          <p:cNvPr id="911" name="Decoracion mapa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8428" y="5212805"/>
            <a:ext cx="1280160" cy="12801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3FA7D6"/>
          </a:solidFill>
          <a:ln/>
        </p:spPr>
      </p:sp>
      <p:pic>
        <p:nvPicPr>
          <p:cNvPr id="3" name="Image 0" descr="/home/claude/pptx_build/icons/decision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573" y="519562"/>
            <a:ext cx="442204" cy="44220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02336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Decisiones clave antes de entrenar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1280160" y="1655064"/>
            <a:ext cx="128016" cy="128016"/>
          </a:xfrm>
          <a:prstGeom prst="ellipse">
            <a:avLst/>
          </a:prstGeom>
          <a:solidFill>
            <a:srgbClr val="3FA7D6"/>
          </a:solidFill>
          <a:ln/>
        </p:spPr>
      </p:sp>
      <p:sp>
        <p:nvSpPr>
          <p:cNvPr id="6" name="Text 3"/>
          <p:cNvSpPr/>
          <p:nvPr/>
        </p:nvSpPr>
        <p:spPr>
          <a:xfrm>
            <a:off x="1600200" y="147218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 descartado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600200" y="1801368"/>
            <a:ext cx="9235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Intentamos usar temperatura y lluvia, pero las estaciones meteorológicas tenían demasiados huecos de información.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1280160" y="2706624"/>
            <a:ext cx="128016" cy="128016"/>
          </a:xfrm>
          <a:prstGeom prst="ellipse">
            <a:avLst/>
          </a:prstGeom>
          <a:solidFill>
            <a:srgbClr val="3FA7D6"/>
          </a:solidFill>
          <a:ln/>
        </p:spPr>
      </p:sp>
      <p:sp>
        <p:nvSpPr>
          <p:cNvPr id="9" name="Text 6"/>
          <p:cNvSpPr/>
          <p:nvPr/>
        </p:nvSpPr>
        <p:spPr>
          <a:xfrm>
            <a:off x="1600200" y="252374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historial + estación del año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600200" y="2852928"/>
            <a:ext cx="9235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su lugar, usamos el propio historial reciente de casos y la época del año.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1280160" y="3758184"/>
            <a:ext cx="128016" cy="128016"/>
          </a:xfrm>
          <a:prstGeom prst="ellipse">
            <a:avLst/>
          </a:prstGeom>
          <a:solidFill>
            <a:srgbClr val="3FA7D6"/>
          </a:solidFill>
          <a:ln/>
        </p:spPr>
      </p:sp>
      <p:sp>
        <p:nvSpPr>
          <p:cNvPr id="12" name="Text 9"/>
          <p:cNvSpPr/>
          <p:nvPr/>
        </p:nvSpPr>
        <p:spPr>
          <a:xfrm>
            <a:off x="1600200" y="357530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desde 2020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600200" y="3904488"/>
            <a:ext cx="9235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2020 el estrato socioeconómico no se registraba de forma confiable, así que restringimos el período.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1280160" y="4809744"/>
            <a:ext cx="128016" cy="128016"/>
          </a:xfrm>
          <a:prstGeom prst="ellipse">
            <a:avLst/>
          </a:prstGeom>
          <a:solidFill>
            <a:srgbClr val="3FA7D6"/>
          </a:solidFill>
          <a:ln/>
        </p:spPr>
      </p:sp>
      <p:sp>
        <p:nvSpPr>
          <p:cNvPr id="15" name="Text 12"/>
          <p:cNvSpPr/>
          <p:nvPr/>
        </p:nvSpPr>
        <p:spPr>
          <a:xfrm>
            <a:off x="1600200" y="462686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modelo, 11 resultados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600200" y="4956048"/>
            <a:ext cx="9235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Diseñamos una sola red que predice el total y cada grupo poblacional a la vez, para poder evaluar la equidad.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pic>
        <p:nvPicPr>
          <p:cNvPr id="912" name="Icono clima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9320" y="1472184"/>
            <a:ext cx="365760" cy="365760"/>
          </a:xfrm>
          <a:prstGeom prst="rect">
            <a:avLst/>
          </a:prstGeom>
        </p:spPr>
      </p:pic>
      <p:pic>
        <p:nvPicPr>
          <p:cNvPr id="913" name="Icono historial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9320" y="2523744"/>
            <a:ext cx="365760" cy="365760"/>
          </a:xfrm>
          <a:prstGeom prst="rect">
            <a:avLst/>
          </a:prstGeom>
        </p:spPr>
      </p:pic>
      <p:pic>
        <p:nvPicPr>
          <p:cNvPr id="914" name="Icono calendario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89320" y="3575304"/>
            <a:ext cx="365760" cy="365760"/>
          </a:xfrm>
          <a:prstGeom prst="rect">
            <a:avLst/>
          </a:prstGeom>
        </p:spPr>
      </p:pic>
      <p:pic>
        <p:nvPicPr>
          <p:cNvPr id="915" name="Icono red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89320" y="4626864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0B4F6C"/>
          </a:solidFill>
          <a:ln/>
        </p:spPr>
      </p:sp>
      <p:pic>
        <p:nvPicPr>
          <p:cNvPr id="3" name="Image 0" descr="/home/claude/pptx_build/icons/arquitectur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773" y="584876"/>
            <a:ext cx="398661" cy="39866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02336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está construida la red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868680" y="1965960"/>
            <a:ext cx="2331720" cy="2286000"/>
          </a:xfrm>
          <a:prstGeom prst="roundRect">
            <a:avLst>
              <a:gd name="adj" fmla="val 4000"/>
            </a:avLst>
          </a:prstGeom>
          <a:solidFill>
            <a:srgbClr val="F4F8FA"/>
          </a:solidFill>
          <a:ln w="12700">
            <a:solidFill>
              <a:srgbClr val="0B4F6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68680" y="219456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B4F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868680" y="29718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78408" y="3337560"/>
            <a:ext cx="21122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semanas anteriores +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estación del año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3200400" y="2743200"/>
            <a:ext cx="502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0" name="Shape 7"/>
          <p:cNvSpPr/>
          <p:nvPr/>
        </p:nvSpPr>
        <p:spPr>
          <a:xfrm>
            <a:off x="3703320" y="1965960"/>
            <a:ext cx="2331720" cy="2286000"/>
          </a:xfrm>
          <a:prstGeom prst="roundRect">
            <a:avLst>
              <a:gd name="adj" fmla="val 4000"/>
            </a:avLst>
          </a:prstGeom>
          <a:solidFill>
            <a:srgbClr val="0B4F6C"/>
          </a:solidFill>
          <a:ln w="12700">
            <a:solidFill>
              <a:srgbClr val="0B4F6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703320" y="219456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</a:t>
            </a:r>
            <a:endParaRPr lang="en-US" sz="4000" dirty="0"/>
          </a:p>
        </p:txBody>
      </p:sp>
      <p:sp>
        <p:nvSpPr>
          <p:cNvPr id="12" name="Text 9"/>
          <p:cNvSpPr/>
          <p:nvPr/>
        </p:nvSpPr>
        <p:spPr>
          <a:xfrm>
            <a:off x="3703320" y="29718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1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3813048" y="3337560"/>
            <a:ext cx="21122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7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 + Dropout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6035040" y="2743200"/>
            <a:ext cx="502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5" name="Shape 12"/>
          <p:cNvSpPr/>
          <p:nvPr/>
        </p:nvSpPr>
        <p:spPr>
          <a:xfrm>
            <a:off x="6537960" y="1965960"/>
            <a:ext cx="2331720" cy="2286000"/>
          </a:xfrm>
          <a:prstGeom prst="roundRect">
            <a:avLst>
              <a:gd name="adj" fmla="val 4000"/>
            </a:avLst>
          </a:prstGeom>
          <a:solidFill>
            <a:srgbClr val="0B4F6C"/>
          </a:solidFill>
          <a:ln w="12700">
            <a:solidFill>
              <a:srgbClr val="0B4F6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537960" y="219456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</a:t>
            </a:r>
            <a:endParaRPr lang="en-US" sz="4000" dirty="0"/>
          </a:p>
        </p:txBody>
      </p:sp>
      <p:sp>
        <p:nvSpPr>
          <p:cNvPr id="17" name="Text 14"/>
          <p:cNvSpPr/>
          <p:nvPr/>
        </p:nvSpPr>
        <p:spPr>
          <a:xfrm>
            <a:off x="6537960" y="29718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2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6647688" y="3337560"/>
            <a:ext cx="21122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7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8869680" y="2743200"/>
            <a:ext cx="502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20" name="Shape 17"/>
          <p:cNvSpPr/>
          <p:nvPr/>
        </p:nvSpPr>
        <p:spPr>
          <a:xfrm>
            <a:off x="9372600" y="1965960"/>
            <a:ext cx="2331720" cy="2286000"/>
          </a:xfrm>
          <a:prstGeom prst="roundRect">
            <a:avLst>
              <a:gd name="adj" fmla="val 4000"/>
            </a:avLst>
          </a:prstGeom>
          <a:solidFill>
            <a:srgbClr val="E94F37"/>
          </a:solidFill>
          <a:ln w="12700">
            <a:solidFill>
              <a:srgbClr val="E94F3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372600" y="219456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4000" dirty="0"/>
          </a:p>
        </p:txBody>
      </p:sp>
      <p:sp>
        <p:nvSpPr>
          <p:cNvPr id="22" name="Text 19"/>
          <p:cNvSpPr/>
          <p:nvPr/>
        </p:nvSpPr>
        <p:spPr>
          <a:xfrm>
            <a:off x="9372600" y="29718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Salida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9482328" y="3337560"/>
            <a:ext cx="21122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7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+ 6 estratos + 2 sexos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E7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gestantes + otros vulnerables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68680" y="470916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1.291 parámetros entrenables  ·  Adam, error cuadrático medio, EarlyStopping y Dropout para no memorizar un historial limitado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868680" y="525780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FA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adelante, al mostrar el código en Google Colab, explicamos cada bloque de esta red con más detalle.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0B4F6C"/>
          </a:solidFill>
          <a:ln/>
        </p:spPr>
      </p:sp>
      <p:pic>
        <p:nvPicPr>
          <p:cNvPr id="3" name="Image 0" descr="/home/claude/pptx_build/icons/arquitectur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773" y="555847"/>
            <a:ext cx="413175" cy="41317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02336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¿Funcionó mejor que un modelo simple?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280160" y="141732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entrenar la red, hicimos una regresión lineal simple como punto de comparación honesto.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1280160" y="2057400"/>
            <a:ext cx="4709160" cy="3246120"/>
          </a:xfrm>
          <a:prstGeom prst="roundRect">
            <a:avLst>
              <a:gd name="adj" fmla="val 2817"/>
            </a:avLst>
          </a:prstGeom>
          <a:solidFill>
            <a:srgbClr val="F4F8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280160" y="228600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simple (regresión lineal)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280160" y="2834640"/>
            <a:ext cx="4709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0,75</a:t>
            </a:r>
            <a:endParaRPr lang="en-US" sz="5000" dirty="0"/>
          </a:p>
        </p:txBody>
      </p:sp>
      <p:sp>
        <p:nvSpPr>
          <p:cNvPr id="9" name="Text 6"/>
          <p:cNvSpPr/>
          <p:nvPr/>
        </p:nvSpPr>
        <p:spPr>
          <a:xfrm>
            <a:off x="1280160" y="384048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(precisión)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280160" y="429768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20,6 casos/semana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280160" y="466344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promedio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446520" y="2057400"/>
            <a:ext cx="4709160" cy="3246120"/>
          </a:xfrm>
          <a:prstGeom prst="roundRect">
            <a:avLst>
              <a:gd name="adj" fmla="val 2817"/>
            </a:avLst>
          </a:prstGeom>
          <a:solidFill>
            <a:srgbClr val="0B4F6C"/>
          </a:solidFill>
          <a:ln/>
        </p:spPr>
      </p:sp>
      <p:sp>
        <p:nvSpPr>
          <p:cNvPr id="13" name="Text 10"/>
          <p:cNvSpPr/>
          <p:nvPr/>
        </p:nvSpPr>
        <p:spPr>
          <a:xfrm>
            <a:off x="6446520" y="228600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neuronal multi-salida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446520" y="2834640"/>
            <a:ext cx="4709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0,84</a:t>
            </a:r>
            <a:endParaRPr lang="en-US" sz="5000" dirty="0"/>
          </a:p>
        </p:txBody>
      </p:sp>
      <p:sp>
        <p:nvSpPr>
          <p:cNvPr id="15" name="Text 12"/>
          <p:cNvSpPr/>
          <p:nvPr/>
        </p:nvSpPr>
        <p:spPr>
          <a:xfrm>
            <a:off x="6446520" y="384048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F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(precisión)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446520" y="429768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17,8 casos/semana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6446520" y="466344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F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promedio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280160" y="548640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red superó al modelo de referencia en la predicción del total de casos.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E94F37"/>
          </a:solidFill>
          <a:ln/>
        </p:spPr>
      </p:sp>
      <p:pic>
        <p:nvPicPr>
          <p:cNvPr id="3" name="Image 0" descr="/home/claude/pptx_build/icons/equid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774" y="526820"/>
            <a:ext cx="391404" cy="43494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02336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¿El modelo es igual de bueno para todos?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280160" y="141732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la red predice 11 categorías a la vez, pudimos revisar la precisión (R²) grupo por grupo, no solo en promedio.</a:t>
            </a:r>
            <a:endParaRPr lang="en-US" sz="14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1097280" y="1965960"/>
          <a:ext cx="758952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Shape 3"/>
          <p:cNvSpPr/>
          <p:nvPr/>
        </p:nvSpPr>
        <p:spPr>
          <a:xfrm>
            <a:off x="8915400" y="1965960"/>
            <a:ext cx="2697480" cy="4114800"/>
          </a:xfrm>
          <a:prstGeom prst="roundRect">
            <a:avLst>
              <a:gd name="adj" fmla="val 3390"/>
            </a:avLst>
          </a:prstGeom>
          <a:solidFill>
            <a:srgbClr val="F4F8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9098280" y="21488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94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hallazgo clave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9098280" y="2606040"/>
            <a:ext cx="23774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red mejora frente al modelo simple en casi todos los grupos, pero justo en gestantes y otros grupos vulnerables, empeora: pasa de un desempeño débil a uno peor que adivinar el promedio.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E94F37"/>
          </a:solidFill>
          <a:ln/>
        </p:spPr>
      </p:sp>
      <p:pic>
        <p:nvPicPr>
          <p:cNvPr id="3" name="Image 0" descr="/home/claude/pptx_build/icons/etic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775" y="577620"/>
            <a:ext cx="391402" cy="32608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02336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¿Por qué esto importa?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280160" y="1691640"/>
            <a:ext cx="96926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buen resultado promedio puede esconder fallas graves en grupos específicos de la población.</a:t>
            </a:r>
            <a:endParaRPr lang="en-US" sz="17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este modelo se usara para decidir dónde fumigar o reforzar la atención en salud, dejaría atrás justo a quienes ya tienen menos acceso a atención médica.</a:t>
            </a:r>
            <a:endParaRPr lang="en-US" sz="17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 es lo que la literatura llama sesgo algorítmico: un modelo técnicamente exitoso en promedio puede ser injusto en la práctica (Obermeyer et al., 2019; Mehrabi et al., 2021).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pic>
        <p:nvPicPr>
          <p:cNvPr id="916" name="Decoracion balanza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96846" y="4435566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0B4F6C"/>
          </a:solidFill>
          <a:ln/>
        </p:spPr>
      </p:sp>
      <p:pic>
        <p:nvPicPr>
          <p:cNvPr id="3" name="Image 0" descr="/home/claude/pptx_build/icons/conclusion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002" y="519562"/>
            <a:ext cx="442204" cy="44220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02336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Conclusiones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1280160" y="1691640"/>
            <a:ext cx="502920" cy="502920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6" name="Text 3"/>
          <p:cNvSpPr/>
          <p:nvPr/>
        </p:nvSpPr>
        <p:spPr>
          <a:xfrm>
            <a:off x="128016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2057400" y="1691640"/>
            <a:ext cx="8869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red neuronal predice el total de casos de dengue mejor que un modelo simple.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1280160" y="2715768"/>
            <a:ext cx="502920" cy="502920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9" name="Text 6"/>
          <p:cNvSpPr/>
          <p:nvPr/>
        </p:nvSpPr>
        <p:spPr>
          <a:xfrm>
            <a:off x="1280160" y="27157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2057400" y="2715768"/>
            <a:ext cx="8869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Pero ese buen resultado promedio esconde una falla real: el modelo empeora justo en los grupos poblacionales más vulnerables.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1280160" y="3739896"/>
            <a:ext cx="502920" cy="502920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12" name="Text 9"/>
          <p:cNvSpPr/>
          <p:nvPr/>
        </p:nvSpPr>
        <p:spPr>
          <a:xfrm>
            <a:off x="1280160" y="37398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2057400" y="3739896"/>
            <a:ext cx="8869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Evaluar un modelo de salud pública solo por su precisión promedio no es suficiente.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1280160" y="4764024"/>
            <a:ext cx="502920" cy="502920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15" name="Text 12"/>
          <p:cNvSpPr/>
          <p:nvPr/>
        </p:nvSpPr>
        <p:spPr>
          <a:xfrm>
            <a:off x="1280160" y="47640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2057400" y="4764024"/>
            <a:ext cx="8869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aprendizaje profundo es una herramienta útil, pero debe evaluarse también por equidad, no solo por exactitud.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pic>
        <p:nvPicPr>
          <p:cNvPr id="917" name="Decoracion check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8480" y="301752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3D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5486400" cy="5486400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28600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¡Gracias!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22960" y="31546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3FA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¿Preguntas?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22960" y="4023360"/>
            <a:ext cx="7772400" cy="10973"/>
          </a:xfrm>
          <a:prstGeom prst="rect">
            <a:avLst/>
          </a:prstGeom>
          <a:solidFill>
            <a:srgbClr val="1D5B70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42519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FFFFFF"/>
                </a:solidFill>
                <a:latin typeface="Calibri"/>
                <a:ea typeface="Calibri"/>
                <a:cs typeface="Calibri"/>
                <a:hlinkClick r:id="rId3"/>
              </a:rPr>
              <a:t>Repositorio de Github</a:t>
            </a:r>
            <a:endParaRPr lang="en-US" sz="1300">
              <a:solidFill>
                <a:srgbClr val="FFFFFF"/>
              </a:solidFill>
              <a:ea typeface="Calibri"/>
              <a:cs typeface="Calibri"/>
              <a:hlinkClick r:id="rId3"/>
            </a:endParaRPr>
          </a:p>
        </p:txBody>
      </p:sp>
      <p:sp>
        <p:nvSpPr>
          <p:cNvPr id="7" name="Text 5"/>
          <p:cNvSpPr/>
          <p:nvPr/>
        </p:nvSpPr>
        <p:spPr>
          <a:xfrm>
            <a:off x="822960" y="46177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FFFFFF"/>
                </a:solidFill>
                <a:latin typeface="Calibri"/>
                <a:ea typeface="Calibri"/>
                <a:cs typeface="Calibri"/>
                <a:hlinkClick r:id="rId4"/>
              </a:rPr>
              <a:t>Cuaderno de Google Colab</a:t>
            </a:r>
            <a:endParaRPr lang="en-US" sz="1300">
              <a:solidFill>
                <a:srgbClr val="FFFFFF"/>
              </a:solidFill>
              <a:ea typeface="Calibri"/>
              <a:cs typeface="Calibri"/>
            </a:endParaRPr>
          </a:p>
        </p:txBody>
      </p:sp>
      <p:sp>
        <p:nvSpPr>
          <p:cNvPr id="8" name="Text 6"/>
          <p:cNvSpPr/>
          <p:nvPr/>
        </p:nvSpPr>
        <p:spPr>
          <a:xfrm>
            <a:off x="822960" y="5360126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AC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Yariangel Aray  ·  Johan Delgado  ·  Breyner Acosta</a:t>
            </a:r>
            <a:endParaRPr lang="en-US" sz="1300" dirty="0"/>
          </a:p>
        </p:txBody>
      </p:sp>
      <p:pic>
        <p:nvPicPr>
          <p:cNvPr id="918" name="Decoracion re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0" y="4114800"/>
            <a:ext cx="2743200" cy="2743200"/>
          </a:xfrm>
          <a:prstGeom prst="rect">
            <a:avLst/>
          </a:prstGeom>
        </p:spPr>
      </p:pic>
      <p:sp>
        <p:nvSpPr>
          <p:cNvPr id="10" name="Text 5">
            <a:extLst>
              <a:ext uri="{FF2B5EF4-FFF2-40B4-BE49-F238E27FC236}">
                <a16:creationId xmlns:a16="http://schemas.microsoft.com/office/drawing/2014/main" id="{08921751-A7BC-865B-2CD5-822048B4D406}"/>
              </a:ext>
            </a:extLst>
          </p:cNvPr>
          <p:cNvSpPr/>
          <p:nvPr/>
        </p:nvSpPr>
        <p:spPr>
          <a:xfrm>
            <a:off x="822959" y="4987833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FFFFFF"/>
                </a:solidFill>
                <a:latin typeface="Calibri"/>
                <a:ea typeface="Calibri"/>
                <a:cs typeface="Calibri"/>
                <a:hlinkClick r:id="rId6"/>
              </a:rPr>
              <a:t>Video Presentación</a:t>
            </a:r>
            <a:endParaRPr lang="en-US" sz="1300" dirty="0">
              <a:solidFill>
                <a:srgbClr val="FFFFFF"/>
              </a:solidFill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10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38</cp:revision>
  <dcterms:created xsi:type="dcterms:W3CDTF">2026-07-26T15:16:50Z</dcterms:created>
  <dcterms:modified xsi:type="dcterms:W3CDTF">2026-07-27T04:07:47Z</dcterms:modified>
</cp:coreProperties>
</file>